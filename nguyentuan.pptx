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945600" cy="30970538"/>
  <p:notesSz cx="30970538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-1714" y="-1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986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38">
            <a:extLst>
              <a:ext uri="{FF2B5EF4-FFF2-40B4-BE49-F238E27FC236}">
                <a16:creationId xmlns:a16="http://schemas.microsoft.com/office/drawing/2014/main" id="{8F89235B-7CF0-FE04-7848-19D42047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78"/>
            <a:ext cx="21945600" cy="3555581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0" y="3531643"/>
            <a:ext cx="21945600" cy="137160"/>
          </a:xfrm>
          <a:prstGeom prst="rect">
            <a:avLst/>
          </a:prstGeom>
          <a:solidFill>
            <a:srgbClr val="E5A900"/>
          </a:solidFill>
          <a:ln w="127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2103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E5A900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DAINAM UNIVERSITY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21031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Hệ </a:t>
            </a:r>
            <a:r>
              <a:rPr lang="en-US" sz="3600" b="1" dirty="0" err="1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thống</a:t>
            </a: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 </a:t>
            </a:r>
            <a:r>
              <a:rPr lang="vi-VN" sz="36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đếm và quản lý số lượng xẻ tự động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1031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vi-VN" sz="1600" i="1" dirty="0">
                <a:solidFill>
                  <a:srgbClr val="C8D8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Nguyễn Anh Tuấn</a:t>
            </a:r>
            <a:r>
              <a:rPr lang="en-US" sz="1600" i="1" dirty="0">
                <a:solidFill>
                  <a:srgbClr val="C8D8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CNTT 16-</a:t>
            </a:r>
            <a:r>
              <a:rPr lang="vi-VN" sz="1600" i="1" dirty="0">
                <a:solidFill>
                  <a:srgbClr val="C8D8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r>
              <a:rPr lang="en-US" sz="1600" i="1" dirty="0">
                <a:solidFill>
                  <a:srgbClr val="C8D8F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Dainam University, Hanoi, Vietnam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816352"/>
            <a:ext cx="21031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50" dirty="0">
                <a:solidFill>
                  <a:srgbClr val="A0BB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Github: https://github.com/nguyntuan28/he-thong-dem-va-quan-ly-so-luong-xe-tu-dong.git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3794760"/>
            <a:ext cx="685800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" y="3794760"/>
            <a:ext cx="6858000" cy="530352"/>
          </a:xfrm>
          <a:prstGeom prst="rect">
            <a:avLst/>
          </a:prstGeom>
          <a:solidFill>
            <a:srgbClr val="1A2B6B"/>
          </a:solidFill>
          <a:ln w="12700">
            <a:solidFill>
              <a:srgbClr val="1A2B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" y="379476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Giới thiệu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192" y="4434840"/>
            <a:ext cx="6528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Hiện trạng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3192" y="4800600"/>
            <a:ext cx="652881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Giao thông đô thị ngày càng phức tạp.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Cần hệ thống đếm xe tự động thời gian thực.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 liệu truyền thống dễ bị thay đổi, cần xác thực và minh bạch dữ liệu.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3192" y="6016752"/>
            <a:ext cx="65288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Khung hệ thống có 4 thành phần quan trọng, bao gồm: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3192" y="6473952"/>
            <a:ext cx="3172968" cy="32918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3192" y="6473952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1) YOLOv8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3192" y="6821424"/>
            <a:ext cx="31729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Nhận diện phương tiện theo thời gian thực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loại xe: car, motorcycle, bus, truck, bicycle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Tốc độ xử lý cao – model yolov8n.pt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0" y="6473952"/>
            <a:ext cx="3172968" cy="32918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0" y="6473952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2) ByteTrack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0" y="6821424"/>
            <a:ext cx="31729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Gán ID cho từng phương tiện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Theo dõi quỹ đạo di chuyển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Tránh đếm trùng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3192" y="7827264"/>
            <a:ext cx="3172968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93192" y="7827264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3) BlockChain (Ethereum)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93192" y="8174736"/>
            <a:ext cx="31729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Contract: TrafficViolationRegistry.sol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Lưu violation hash + TX hash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 thực dữ liệu qua Web3.py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0" y="7827264"/>
            <a:ext cx="3172968" cy="329184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0" y="7827264"/>
            <a:ext cx="3172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4) Dashboard (Flask)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0" y="8174736"/>
            <a:ext cx="31729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Hiển thị video realtime thống kê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Quản lý lịch sử Block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 thực block qua MetaMask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28600" y="9098280"/>
            <a:ext cx="6858000" cy="1225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28600" y="9098280"/>
            <a:ext cx="6858000" cy="530352"/>
          </a:xfrm>
          <a:prstGeom prst="rect">
            <a:avLst/>
          </a:prstGeom>
          <a:solidFill>
            <a:srgbClr val="1A2B6B"/>
          </a:solidFill>
          <a:ln w="12700">
            <a:solidFill>
              <a:srgbClr val="1A2B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28600" y="90982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Phương pháp đề xuất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9738360"/>
            <a:ext cx="6583680" cy="32918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65760" y="97383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YOLOv8 – Phát hiện phương tiện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1008583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Sử dụng YOLOv8n (model nhỏ, nhanh) nhận diện 5 loại xe: car, motorcycle, bus, truck, bicycle. Confidence threshold: 0.25, IoU: 0.30. Hỗ trợ CPU &amp; GPU.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11658600"/>
            <a:ext cx="6583680" cy="32918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65760" y="116586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ByteTrack – Tracking đa phương tiện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65760" y="1200607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Gán Track ID duy nhất cho mỗi xe, duy trì ID liên tục kể cả khi bị che khuất. Tích hợp trực tiếp vào YOLO qua model.track(persist=True).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5760" y="13578840"/>
            <a:ext cx="6583680" cy="32918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65760" y="1357884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Đường đếm ảo (Virtual Line Counter)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" y="1392631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Đường nằm ngang tại line_y = frame_height × line_ratio. Khi tâm xe vượt qua: đếm Up (vào) hoặc Down (ra). Offset buffer ±6px tránh đếm nhầm.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65760" y="15499080"/>
            <a:ext cx="65836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" y="154990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Smart Contract – Ethereum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65760" y="1584655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TrafficViolationRegistry.sol trên Solidity ^0.8.0. Lưu: vehicleId, violationType, severity, imageHash, timestamp. Hỗ trợ Sepolia testnet &amp; Polygon.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65760" y="17419320"/>
            <a:ext cx="6583680" cy="329184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65760" y="1741932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Web3.py – Ghi dữ liệu Blockchain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5760" y="1776679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BlockchainManager kết nối qua RPC endpoint. Gọi recordViolation() mỗi khi phát hiện vi phạm. Tự động backup local khi offline, sync lại khi kết nối.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65760" y="19339560"/>
            <a:ext cx="658368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65760" y="193395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Flask Backend – API Server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65760" y="19687032"/>
            <a:ext cx="6583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 API endpoints: upload video, live webcam stream, job queue, blockchain API (8 endpoints), MetaMask API (4 endpoints). Max 500MB upload, 6 video formats.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28600" y="21534120"/>
            <a:ext cx="6858000" cy="6583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228600" y="21534120"/>
            <a:ext cx="6858000" cy="5303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28600" y="2153412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Kết luận và hướng phát triển trong tương lai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393192" y="22201632"/>
            <a:ext cx="6528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9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Kết luận: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93192" y="22594824"/>
            <a:ext cx="6528816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 thống hoạt động thời gian thực ổn định, đếm xe chính xác bằng YOLOv8 + ByteTrack, Blockchain (Ethereum/Sepolia) giúp xác thực dữ liệu vi phạm minh bạch và bất biến, Dashboard Flask hỗ trợ giám sát trực quan qua web.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93192" y="24579072"/>
            <a:ext cx="6528816" cy="0"/>
          </a:xfrm>
          <a:prstGeom prst="line">
            <a:avLst/>
          </a:prstGeom>
          <a:noFill/>
          <a:ln w="15240">
            <a:solidFill>
              <a:srgbClr val="C8D3EA"/>
            </a:solidFill>
            <a:prstDash val="dash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93192" y="24761952"/>
            <a:ext cx="6528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Hướng phát triển trong tương lai: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393192" y="25155144"/>
            <a:ext cx="652881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Nhận diện thêm nhiều loại xe (xe máy điện, xe chuyên dụng)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Triển khai camera thực tế tại các nút giao thông thành phố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Tích hợp Cloud (AWS/GCP) và AI traffic prediction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 nối Blockchain testnet/mainnet chính thức (Ethereum, Polygon)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Tích hợp IPFS để lưu ảnh vi phạm phi tập trung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Phát triển app mobile cho cảnh sát giao thông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315200" y="3794760"/>
            <a:ext cx="6858000" cy="84124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315200" y="3794760"/>
            <a:ext cx="6858000" cy="530352"/>
          </a:xfrm>
          <a:prstGeom prst="rect">
            <a:avLst/>
          </a:prstGeom>
          <a:solidFill>
            <a:srgbClr val="1A2B6B"/>
          </a:solidFill>
          <a:ln w="12700">
            <a:solidFill>
              <a:srgbClr val="1A2B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315200" y="379476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Kiến trúc hệ thống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7635240" y="4489704"/>
            <a:ext cx="2560320" cy="65836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635240" y="448970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Video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(Traffic Video)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635240" y="5440680"/>
            <a:ext cx="2560320" cy="65836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7635240" y="5440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YOLOv8n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Vehicle Detection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635240" y="6391656"/>
            <a:ext cx="2560320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7635240" y="63916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ByteTrack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Tracking assign ID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635240" y="7342632"/>
            <a:ext cx="2560320" cy="822960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635240" y="73426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Flask 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process, format,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Count Vehicle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7635240" y="8458200"/>
            <a:ext cx="2560320" cy="658368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7635240" y="84582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Real-time Stats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1137392" y="4489704"/>
            <a:ext cx="256032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1137392" y="448970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interval_stats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Snapshot 20s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1137392" y="5440680"/>
            <a:ext cx="256032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1137392" y="544068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Thread_blockchain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_worker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11137392" y="6391656"/>
            <a:ext cx="256032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1137392" y="63916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Web3.py Send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Transaction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11137392" y="7342632"/>
            <a:ext cx="2560320" cy="65836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1137392" y="734263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TrafficViolationRegistry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11137392" y="8293608"/>
            <a:ext cx="2560320" cy="65836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1137392" y="829360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Ethereum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635240" y="9409176"/>
            <a:ext cx="25603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7635240" y="940917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Flask APIs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api/status → Web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11137392" y="9244584"/>
            <a:ext cx="25603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11137392" y="92445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Verify Block API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↔ Web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8915400" y="5148072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915400" y="6099048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8915400" y="7050024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8915400" y="8001000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12417552" y="5148072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12417552" y="6099048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12417552" y="7050024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12417552" y="8001000"/>
            <a:ext cx="0" cy="27432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10195560" y="4818888"/>
            <a:ext cx="941832" cy="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Shape 89"/>
          <p:cNvSpPr/>
          <p:nvPr/>
        </p:nvSpPr>
        <p:spPr>
          <a:xfrm>
            <a:off x="10195560" y="9756648"/>
            <a:ext cx="941832" cy="0"/>
          </a:xfrm>
          <a:prstGeom prst="line">
            <a:avLst/>
          </a:prstGeom>
          <a:noFill/>
          <a:ln w="254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7315200" y="12390120"/>
            <a:ext cx="6858000" cy="7498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7315200" y="12390120"/>
            <a:ext cx="6858000" cy="5303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7315200" y="1239012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Quy trình hoạt động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7479792" y="13075920"/>
            <a:ext cx="566928" cy="566928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7479792" y="13075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8183880" y="1303020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FA8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Bước 1: Thu nhận và xử lý video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96"/>
          <p:cNvSpPr/>
          <p:nvPr/>
        </p:nvSpPr>
        <p:spPr>
          <a:xfrm>
            <a:off x="8183880" y="1341424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Hệ thống sử dụng YOLOv8n để nhận diện phương tiện và ByteTrack để theo dõi ID của từng xe theo thời gian thực.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Shape 97"/>
          <p:cNvSpPr/>
          <p:nvPr/>
        </p:nvSpPr>
        <p:spPr>
          <a:xfrm>
            <a:off x="7763256" y="13642848"/>
            <a:ext cx="0" cy="384048"/>
          </a:xfrm>
          <a:prstGeom prst="line">
            <a:avLst/>
          </a:prstGeom>
          <a:noFill/>
          <a:ln w="12700">
            <a:solidFill>
              <a:srgbClr val="C8D3EA"/>
            </a:solidFill>
            <a:prstDash val="dash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479792" y="14538960"/>
            <a:ext cx="566928" cy="566928"/>
          </a:xfrm>
          <a:prstGeom prst="ellipse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479792" y="1453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2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8183880" y="1449324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9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Bước 2: Đếm phương tiện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8183880" y="1487728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Khi xe đi qua vạch đếm ảo (line_y), hệ thống xác định hướng di chuyển và cập nhật thống kê Car, Truck, Up và Down.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7763256" y="15105888"/>
            <a:ext cx="0" cy="384048"/>
          </a:xfrm>
          <a:prstGeom prst="line">
            <a:avLst/>
          </a:prstGeom>
          <a:noFill/>
          <a:ln w="12700">
            <a:solidFill>
              <a:srgbClr val="C8D3EA"/>
            </a:solidFill>
            <a:prstDash val="dash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7479792" y="16002000"/>
            <a:ext cx="566928" cy="566928"/>
          </a:xfrm>
          <a:prstGeom prst="ellipse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 104"/>
          <p:cNvSpPr/>
          <p:nvPr/>
        </p:nvSpPr>
        <p:spPr>
          <a:xfrm>
            <a:off x="7479792" y="1600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3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8183880" y="1595628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84315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Bước 3: Phát hiện vi phạm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8183880" y="1634032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RedLightDetector theo dõi xe vượt đường khi đèn đỏ. Phân loại: SEVERE (&gt;15px/frame), MODERATE (8–15), MINOR (&lt;8). Lưu ảnh JPEG.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7763256" y="16568928"/>
            <a:ext cx="0" cy="384048"/>
          </a:xfrm>
          <a:prstGeom prst="line">
            <a:avLst/>
          </a:prstGeom>
          <a:noFill/>
          <a:ln w="12700">
            <a:solidFill>
              <a:srgbClr val="C8D3EA"/>
            </a:solidFill>
            <a:prstDash val="dash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7479792" y="17465040"/>
            <a:ext cx="566928" cy="5669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7479792" y="17465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8183880" y="1741932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1B9A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Bước 4: Lưu dữ liệu BlockChain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8183880" y="1780336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BlockchainManager gọi Smart Contract recordViolation() qua Web3.py, lưu violationHash + imageHash + timestamp lên Ethereum.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7763256" y="18031968"/>
            <a:ext cx="0" cy="384048"/>
          </a:xfrm>
          <a:prstGeom prst="line">
            <a:avLst/>
          </a:prstGeom>
          <a:noFill/>
          <a:ln w="12700">
            <a:solidFill>
              <a:srgbClr val="C8D3EA"/>
            </a:solidFill>
            <a:prstDash val="dash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Shape 113"/>
          <p:cNvSpPr/>
          <p:nvPr/>
        </p:nvSpPr>
        <p:spPr>
          <a:xfrm>
            <a:off x="7479792" y="18928080"/>
            <a:ext cx="566928" cy="56692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479792" y="18928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8183880" y="1888236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Bước 5: Xác thực và hiển thị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8183880" y="19266408"/>
            <a:ext cx="5806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Dashboard Flask hiển thị dữ liệu realtime. Người dùng kết nối MetaMask, xác thực block, tra cứu lịch sử vi phạm theo vehicleId.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7315200" y="20071080"/>
            <a:ext cx="6858000" cy="8092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7315200" y="20071080"/>
            <a:ext cx="6858000" cy="5303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7315200" y="200710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Quy trình xử lý dữ liệu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7818120" y="20766024"/>
            <a:ext cx="5852160" cy="42062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7818120" y="2076602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Camera Video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7772400" y="2115007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Shape 123"/>
          <p:cNvSpPr/>
          <p:nvPr/>
        </p:nvSpPr>
        <p:spPr>
          <a:xfrm>
            <a:off x="7818120" y="21424392"/>
            <a:ext cx="5852160" cy="420624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7818120" y="2142439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YOLOv8n Detection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7772400" y="218084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7818120" y="22082760"/>
            <a:ext cx="5852160" cy="42062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7818120" y="2208276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ByteTrack Tracking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7772400" y="224668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7818120" y="22741128"/>
            <a:ext cx="5852160" cy="42062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 130"/>
          <p:cNvSpPr/>
          <p:nvPr/>
        </p:nvSpPr>
        <p:spPr>
          <a:xfrm>
            <a:off x="7818120" y="2274112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Vehicle Counting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7772400" y="2312517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7818120" y="23399496"/>
            <a:ext cx="5852160" cy="420624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7818120" y="23399496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Flask Backend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7772400" y="2378354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7818120" y="24057864"/>
            <a:ext cx="5852160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7818120" y="24057864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 Queue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Text 137"/>
          <p:cNvSpPr/>
          <p:nvPr/>
        </p:nvSpPr>
        <p:spPr>
          <a:xfrm>
            <a:off x="7772400" y="2444191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Shape 138"/>
          <p:cNvSpPr/>
          <p:nvPr/>
        </p:nvSpPr>
        <p:spPr>
          <a:xfrm>
            <a:off x="7818120" y="24716232"/>
            <a:ext cx="5852160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 139"/>
          <p:cNvSpPr/>
          <p:nvPr/>
        </p:nvSpPr>
        <p:spPr>
          <a:xfrm>
            <a:off x="7818120" y="24716232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Web3.py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7772400" y="251002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7818120" y="25374600"/>
            <a:ext cx="5852160" cy="42062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7818120" y="25374600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 143"/>
          <p:cNvSpPr/>
          <p:nvPr/>
        </p:nvSpPr>
        <p:spPr>
          <a:xfrm>
            <a:off x="7772400" y="25758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5A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Shape 144"/>
          <p:cNvSpPr/>
          <p:nvPr/>
        </p:nvSpPr>
        <p:spPr>
          <a:xfrm>
            <a:off x="7818120" y="26032968"/>
            <a:ext cx="5852160" cy="42062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 145"/>
          <p:cNvSpPr/>
          <p:nvPr/>
        </p:nvSpPr>
        <p:spPr>
          <a:xfrm>
            <a:off x="7818120" y="26032968"/>
            <a:ext cx="5852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Ethereum Blockchain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14420088" y="3668803"/>
            <a:ext cx="6858000" cy="186080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14401800" y="3794760"/>
            <a:ext cx="6858000" cy="530352"/>
          </a:xfrm>
          <a:prstGeom prst="rect">
            <a:avLst/>
          </a:prstGeom>
          <a:solidFill>
            <a:srgbClr val="1A2B6B"/>
          </a:solidFill>
          <a:ln w="12700">
            <a:solidFill>
              <a:srgbClr val="1A2B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 148"/>
          <p:cNvSpPr/>
          <p:nvPr/>
        </p:nvSpPr>
        <p:spPr>
          <a:xfrm>
            <a:off x="14401800" y="379476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Kết quả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Text 149"/>
          <p:cNvSpPr/>
          <p:nvPr/>
        </p:nvSpPr>
        <p:spPr>
          <a:xfrm>
            <a:off x="14566392" y="4416552"/>
            <a:ext cx="6528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Giao diện trang: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14566392" y="4800600"/>
            <a:ext cx="6528816" cy="384048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14566392" y="4800600"/>
            <a:ext cx="6528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Tab 1 – Realtime giám sát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14566392" y="5184648"/>
            <a:ext cx="3264408" cy="329184"/>
          </a:xfrm>
          <a:prstGeom prst="rect">
            <a:avLst/>
          </a:prstGeom>
          <a:solidFill>
            <a:srgbClr val="1A5FA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Text 153"/>
          <p:cNvSpPr/>
          <p:nvPr/>
        </p:nvSpPr>
        <p:spPr>
          <a:xfrm>
            <a:off x="14566392" y="5184648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Chỉ số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17830800" y="5184648"/>
            <a:ext cx="3264408" cy="329184"/>
          </a:xfrm>
          <a:prstGeom prst="rect">
            <a:avLst/>
          </a:prstGeom>
          <a:solidFill>
            <a:srgbClr val="1A5FA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17830800" y="5184648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Giá trị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14566392" y="5513832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 157"/>
          <p:cNvSpPr/>
          <p:nvPr/>
        </p:nvSpPr>
        <p:spPr>
          <a:xfrm>
            <a:off x="14566392" y="5513832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 (Up/Down)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0" name="Shape 158"/>
          <p:cNvSpPr/>
          <p:nvPr/>
        </p:nvSpPr>
        <p:spPr>
          <a:xfrm>
            <a:off x="17830800" y="5513832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17830800" y="5513832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/ 4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14566392" y="5843016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14566392" y="584301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Truck (Up/Down)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Shape 162"/>
          <p:cNvSpPr/>
          <p:nvPr/>
        </p:nvSpPr>
        <p:spPr>
          <a:xfrm>
            <a:off x="17830800" y="5843016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17830800" y="584301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14566392" y="6172200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Text 165"/>
          <p:cNvSpPr/>
          <p:nvPr/>
        </p:nvSpPr>
        <p:spPr>
          <a:xfrm>
            <a:off x="14566392" y="617220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Shape 166"/>
          <p:cNvSpPr/>
          <p:nvPr/>
        </p:nvSpPr>
        <p:spPr>
          <a:xfrm>
            <a:off x="17830800" y="6172200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17830800" y="617220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14566392" y="6501384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14566392" y="650138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Flow Rate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Shape 170"/>
          <p:cNvSpPr/>
          <p:nvPr/>
        </p:nvSpPr>
        <p:spPr>
          <a:xfrm>
            <a:off x="17830800" y="6501384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17830800" y="650138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 xe/phút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 172"/>
          <p:cNvSpPr/>
          <p:nvPr/>
        </p:nvSpPr>
        <p:spPr>
          <a:xfrm>
            <a:off x="14566392" y="6885432"/>
            <a:ext cx="6528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1A5F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Video stream + bounding box + Track ID + vạch đếm ảo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Shape 173"/>
          <p:cNvSpPr/>
          <p:nvPr/>
        </p:nvSpPr>
        <p:spPr>
          <a:xfrm>
            <a:off x="14566392" y="7306056"/>
            <a:ext cx="6528816" cy="3840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 174"/>
          <p:cNvSpPr/>
          <p:nvPr/>
        </p:nvSpPr>
        <p:spPr>
          <a:xfrm>
            <a:off x="14566392" y="7306056"/>
            <a:ext cx="6528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Tab 2 – Quản lý BlockChain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14566392" y="7690104"/>
            <a:ext cx="2176272" cy="329184"/>
          </a:xfrm>
          <a:prstGeom prst="rect">
            <a:avLst/>
          </a:prstGeom>
          <a:solidFill>
            <a:srgbClr val="6A1B9A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Text 176"/>
          <p:cNvSpPr/>
          <p:nvPr/>
        </p:nvSpPr>
        <p:spPr>
          <a:xfrm>
            <a:off x="14566392" y="769010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16742664" y="7690104"/>
            <a:ext cx="2176272" cy="329184"/>
          </a:xfrm>
          <a:prstGeom prst="rect">
            <a:avLst/>
          </a:prstGeom>
          <a:solidFill>
            <a:srgbClr val="6A1B9A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Text 178"/>
          <p:cNvSpPr/>
          <p:nvPr/>
        </p:nvSpPr>
        <p:spPr>
          <a:xfrm>
            <a:off x="16742664" y="769010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Thời gian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1" name="Shape 179"/>
          <p:cNvSpPr/>
          <p:nvPr/>
        </p:nvSpPr>
        <p:spPr>
          <a:xfrm>
            <a:off x="18918936" y="7690104"/>
            <a:ext cx="2176272" cy="329184"/>
          </a:xfrm>
          <a:prstGeom prst="rect">
            <a:avLst/>
          </a:prstGeom>
          <a:solidFill>
            <a:srgbClr val="6A1B9A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Text 180"/>
          <p:cNvSpPr/>
          <p:nvPr/>
        </p:nvSpPr>
        <p:spPr>
          <a:xfrm>
            <a:off x="18918936" y="7690104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TX Hash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3" name="Shape 181"/>
          <p:cNvSpPr/>
          <p:nvPr/>
        </p:nvSpPr>
        <p:spPr>
          <a:xfrm>
            <a:off x="14566392" y="8019288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Text 182"/>
          <p:cNvSpPr/>
          <p:nvPr/>
        </p:nvSpPr>
        <p:spPr>
          <a:xfrm>
            <a:off x="14566392" y="801928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16742664" y="8019288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6" name="Text 184"/>
          <p:cNvSpPr/>
          <p:nvPr/>
        </p:nvSpPr>
        <p:spPr>
          <a:xfrm>
            <a:off x="16742664" y="801928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00:31:22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Shape 185"/>
          <p:cNvSpPr/>
          <p:nvPr/>
        </p:nvSpPr>
        <p:spPr>
          <a:xfrm>
            <a:off x="18918936" y="8019288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Text 186"/>
          <p:cNvSpPr/>
          <p:nvPr/>
        </p:nvSpPr>
        <p:spPr>
          <a:xfrm>
            <a:off x="18918936" y="8019288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0x2a9f...7fec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Shape 187"/>
          <p:cNvSpPr/>
          <p:nvPr/>
        </p:nvSpPr>
        <p:spPr>
          <a:xfrm>
            <a:off x="14566392" y="8348472"/>
            <a:ext cx="2176272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0" name="Text 188"/>
          <p:cNvSpPr/>
          <p:nvPr/>
        </p:nvSpPr>
        <p:spPr>
          <a:xfrm>
            <a:off x="14566392" y="834847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16742664" y="8348472"/>
            <a:ext cx="2176272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Text 190"/>
          <p:cNvSpPr/>
          <p:nvPr/>
        </p:nvSpPr>
        <p:spPr>
          <a:xfrm>
            <a:off x="16742664" y="834847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00:51:45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Shape 191"/>
          <p:cNvSpPr/>
          <p:nvPr/>
        </p:nvSpPr>
        <p:spPr>
          <a:xfrm>
            <a:off x="18918936" y="8348472"/>
            <a:ext cx="2176272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Text 192"/>
          <p:cNvSpPr/>
          <p:nvPr/>
        </p:nvSpPr>
        <p:spPr>
          <a:xfrm>
            <a:off x="18918936" y="8348472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0x8b1c...3a2d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Shape 193"/>
          <p:cNvSpPr/>
          <p:nvPr/>
        </p:nvSpPr>
        <p:spPr>
          <a:xfrm>
            <a:off x="14566392" y="8677656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14566392" y="867765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Shape 195"/>
          <p:cNvSpPr/>
          <p:nvPr/>
        </p:nvSpPr>
        <p:spPr>
          <a:xfrm>
            <a:off x="16742664" y="8677656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 196"/>
          <p:cNvSpPr/>
          <p:nvPr/>
        </p:nvSpPr>
        <p:spPr>
          <a:xfrm>
            <a:off x="16742664" y="867765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01:12:08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Shape 197"/>
          <p:cNvSpPr/>
          <p:nvPr/>
        </p:nvSpPr>
        <p:spPr>
          <a:xfrm>
            <a:off x="18918936" y="8677656"/>
            <a:ext cx="217627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Text 198"/>
          <p:cNvSpPr/>
          <p:nvPr/>
        </p:nvSpPr>
        <p:spPr>
          <a:xfrm>
            <a:off x="18918936" y="8677656"/>
            <a:ext cx="2176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0xf3e9...9b4c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1" name="Text 199"/>
          <p:cNvSpPr/>
          <p:nvPr/>
        </p:nvSpPr>
        <p:spPr>
          <a:xfrm>
            <a:off x="14566392" y="9061704"/>
            <a:ext cx="6528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6A1B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Xác thực mỗi block với Blockchain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2" name="Shape 200"/>
          <p:cNvSpPr/>
          <p:nvPr/>
        </p:nvSpPr>
        <p:spPr>
          <a:xfrm>
            <a:off x="14566392" y="9482328"/>
            <a:ext cx="6528816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3" name="Text 201"/>
          <p:cNvSpPr/>
          <p:nvPr/>
        </p:nvSpPr>
        <p:spPr>
          <a:xfrm>
            <a:off x="14566392" y="9482328"/>
            <a:ext cx="65288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Tab 3 – Chi tiết Block #1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" name="Shape 202"/>
          <p:cNvSpPr/>
          <p:nvPr/>
        </p:nvSpPr>
        <p:spPr>
          <a:xfrm>
            <a:off x="14566392" y="9866376"/>
            <a:ext cx="3264408" cy="329184"/>
          </a:xfrm>
          <a:prstGeom prst="rect">
            <a:avLst/>
          </a:prstGeom>
          <a:solidFill>
            <a:srgbClr val="2E7D32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Text 203"/>
          <p:cNvSpPr/>
          <p:nvPr/>
        </p:nvSpPr>
        <p:spPr>
          <a:xfrm>
            <a:off x="14566392" y="986637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Thông tin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Shape 204"/>
          <p:cNvSpPr/>
          <p:nvPr/>
        </p:nvSpPr>
        <p:spPr>
          <a:xfrm>
            <a:off x="17830800" y="9866376"/>
            <a:ext cx="3264408" cy="329184"/>
          </a:xfrm>
          <a:prstGeom prst="rect">
            <a:avLst/>
          </a:prstGeom>
          <a:solidFill>
            <a:srgbClr val="2E7D32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Text 205"/>
          <p:cNvSpPr/>
          <p:nvPr/>
        </p:nvSpPr>
        <p:spPr>
          <a:xfrm>
            <a:off x="17830800" y="986637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Giá trị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Shape 206"/>
          <p:cNvSpPr/>
          <p:nvPr/>
        </p:nvSpPr>
        <p:spPr>
          <a:xfrm>
            <a:off x="14566392" y="10195560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Text 207"/>
          <p:cNvSpPr/>
          <p:nvPr/>
        </p:nvSpPr>
        <p:spPr>
          <a:xfrm>
            <a:off x="14566392" y="1019556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hape 208"/>
          <p:cNvSpPr/>
          <p:nvPr/>
        </p:nvSpPr>
        <p:spPr>
          <a:xfrm>
            <a:off x="17830800" y="10195560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 209"/>
          <p:cNvSpPr/>
          <p:nvPr/>
        </p:nvSpPr>
        <p:spPr>
          <a:xfrm>
            <a:off x="17830800" y="10195560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#1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Shape 210"/>
          <p:cNvSpPr/>
          <p:nvPr/>
        </p:nvSpPr>
        <p:spPr>
          <a:xfrm>
            <a:off x="14566392" y="10524744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 211"/>
          <p:cNvSpPr/>
          <p:nvPr/>
        </p:nvSpPr>
        <p:spPr>
          <a:xfrm>
            <a:off x="14566392" y="1052474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THỜI GIAN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Shape 212"/>
          <p:cNvSpPr/>
          <p:nvPr/>
        </p:nvSpPr>
        <p:spPr>
          <a:xfrm>
            <a:off x="17830800" y="10524744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 213"/>
          <p:cNvSpPr/>
          <p:nvPr/>
        </p:nvSpPr>
        <p:spPr>
          <a:xfrm>
            <a:off x="17830800" y="10524744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00:31:22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Shape 214"/>
          <p:cNvSpPr/>
          <p:nvPr/>
        </p:nvSpPr>
        <p:spPr>
          <a:xfrm>
            <a:off x="14566392" y="10853928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 215"/>
          <p:cNvSpPr/>
          <p:nvPr/>
        </p:nvSpPr>
        <p:spPr>
          <a:xfrm>
            <a:off x="14566392" y="10853928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 / Truck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Shape 216"/>
          <p:cNvSpPr/>
          <p:nvPr/>
        </p:nvSpPr>
        <p:spPr>
          <a:xfrm>
            <a:off x="17830800" y="10853928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 217"/>
          <p:cNvSpPr/>
          <p:nvPr/>
        </p:nvSpPr>
        <p:spPr>
          <a:xfrm>
            <a:off x="17830800" y="10853928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/ 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Shape 218"/>
          <p:cNvSpPr/>
          <p:nvPr/>
        </p:nvSpPr>
        <p:spPr>
          <a:xfrm>
            <a:off x="14566392" y="11183112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1" name="Text 219"/>
          <p:cNvSpPr/>
          <p:nvPr/>
        </p:nvSpPr>
        <p:spPr>
          <a:xfrm>
            <a:off x="14566392" y="11183112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Up / Down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2" name="Shape 220"/>
          <p:cNvSpPr/>
          <p:nvPr/>
        </p:nvSpPr>
        <p:spPr>
          <a:xfrm>
            <a:off x="17830800" y="11183112"/>
            <a:ext cx="3264408" cy="329184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3" name="Text 221"/>
          <p:cNvSpPr/>
          <p:nvPr/>
        </p:nvSpPr>
        <p:spPr>
          <a:xfrm>
            <a:off x="17830800" y="11183112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 / 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Shape 222"/>
          <p:cNvSpPr/>
          <p:nvPr/>
        </p:nvSpPr>
        <p:spPr>
          <a:xfrm>
            <a:off x="14566392" y="11512296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Text 223"/>
          <p:cNvSpPr/>
          <p:nvPr/>
        </p:nvSpPr>
        <p:spPr>
          <a:xfrm>
            <a:off x="14566392" y="1151229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TX Hash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" name="Shape 224"/>
          <p:cNvSpPr/>
          <p:nvPr/>
        </p:nvSpPr>
        <p:spPr>
          <a:xfrm>
            <a:off x="17830800" y="11512296"/>
            <a:ext cx="32644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 225"/>
          <p:cNvSpPr/>
          <p:nvPr/>
        </p:nvSpPr>
        <p:spPr>
          <a:xfrm>
            <a:off x="17830800" y="11512296"/>
            <a:ext cx="32644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0x2a9f...7fec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Text 226"/>
          <p:cNvSpPr/>
          <p:nvPr/>
        </p:nvSpPr>
        <p:spPr>
          <a:xfrm>
            <a:off x="14566392" y="11896344"/>
            <a:ext cx="65288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2E7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Xác thực thành công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 227"/>
          <p:cNvSpPr/>
          <p:nvPr/>
        </p:nvSpPr>
        <p:spPr>
          <a:xfrm>
            <a:off x="14566392" y="12316968"/>
            <a:ext cx="6528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Ma trận hiệu suất nhận diện (YOLOv8n):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Shape 228"/>
          <p:cNvSpPr/>
          <p:nvPr/>
        </p:nvSpPr>
        <p:spPr>
          <a:xfrm>
            <a:off x="14566392" y="12701016"/>
            <a:ext cx="1632204" cy="347472"/>
          </a:xfrm>
          <a:prstGeom prst="rect">
            <a:avLst/>
          </a:prstGeom>
          <a:solidFill>
            <a:srgbClr val="1A2B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Text 229"/>
          <p:cNvSpPr/>
          <p:nvPr/>
        </p:nvSpPr>
        <p:spPr>
          <a:xfrm>
            <a:off x="14566392" y="1270101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Loại xe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Shape 230"/>
          <p:cNvSpPr/>
          <p:nvPr/>
        </p:nvSpPr>
        <p:spPr>
          <a:xfrm>
            <a:off x="16198596" y="12701016"/>
            <a:ext cx="1632204" cy="347472"/>
          </a:xfrm>
          <a:prstGeom prst="rect">
            <a:avLst/>
          </a:prstGeom>
          <a:solidFill>
            <a:srgbClr val="1A2B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 231"/>
          <p:cNvSpPr/>
          <p:nvPr/>
        </p:nvSpPr>
        <p:spPr>
          <a:xfrm>
            <a:off x="16198596" y="1270101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" name="Shape 232"/>
          <p:cNvSpPr/>
          <p:nvPr/>
        </p:nvSpPr>
        <p:spPr>
          <a:xfrm>
            <a:off x="17830800" y="12701016"/>
            <a:ext cx="1632204" cy="347472"/>
          </a:xfrm>
          <a:prstGeom prst="rect">
            <a:avLst/>
          </a:prstGeom>
          <a:solidFill>
            <a:srgbClr val="1A2B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" name="Text 233"/>
          <p:cNvSpPr/>
          <p:nvPr/>
        </p:nvSpPr>
        <p:spPr>
          <a:xfrm>
            <a:off x="17830800" y="1270101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" name="Shape 234"/>
          <p:cNvSpPr/>
          <p:nvPr/>
        </p:nvSpPr>
        <p:spPr>
          <a:xfrm>
            <a:off x="19463004" y="12701016"/>
            <a:ext cx="1632204" cy="347472"/>
          </a:xfrm>
          <a:prstGeom prst="rect">
            <a:avLst/>
          </a:prstGeom>
          <a:solidFill>
            <a:srgbClr val="1A2B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Text 235"/>
          <p:cNvSpPr/>
          <p:nvPr/>
        </p:nvSpPr>
        <p:spPr>
          <a:xfrm>
            <a:off x="19463004" y="1270101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F1-Score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Shape 236"/>
          <p:cNvSpPr/>
          <p:nvPr/>
        </p:nvSpPr>
        <p:spPr>
          <a:xfrm>
            <a:off x="14566392" y="13048488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Text 237"/>
          <p:cNvSpPr/>
          <p:nvPr/>
        </p:nvSpPr>
        <p:spPr>
          <a:xfrm>
            <a:off x="14566392" y="1304848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Shape 238"/>
          <p:cNvSpPr/>
          <p:nvPr/>
        </p:nvSpPr>
        <p:spPr>
          <a:xfrm>
            <a:off x="16198596" y="13048488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Text 239"/>
          <p:cNvSpPr/>
          <p:nvPr/>
        </p:nvSpPr>
        <p:spPr>
          <a:xfrm>
            <a:off x="16198596" y="1304848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92.1%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Shape 240"/>
          <p:cNvSpPr/>
          <p:nvPr/>
        </p:nvSpPr>
        <p:spPr>
          <a:xfrm>
            <a:off x="17830800" y="13048488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Text 241"/>
          <p:cNvSpPr/>
          <p:nvPr/>
        </p:nvSpPr>
        <p:spPr>
          <a:xfrm>
            <a:off x="17830800" y="1304848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94.3%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Shape 242"/>
          <p:cNvSpPr/>
          <p:nvPr/>
        </p:nvSpPr>
        <p:spPr>
          <a:xfrm>
            <a:off x="19463004" y="13048488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Text 243"/>
          <p:cNvSpPr/>
          <p:nvPr/>
        </p:nvSpPr>
        <p:spPr>
          <a:xfrm>
            <a:off x="19463004" y="1304848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93.2%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Shape 244"/>
          <p:cNvSpPr/>
          <p:nvPr/>
        </p:nvSpPr>
        <p:spPr>
          <a:xfrm>
            <a:off x="14566392" y="13395960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Text 245"/>
          <p:cNvSpPr/>
          <p:nvPr/>
        </p:nvSpPr>
        <p:spPr>
          <a:xfrm>
            <a:off x="14566392" y="13395960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Motorcycle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Shape 246"/>
          <p:cNvSpPr/>
          <p:nvPr/>
        </p:nvSpPr>
        <p:spPr>
          <a:xfrm>
            <a:off x="16198596" y="13395960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Text 247"/>
          <p:cNvSpPr/>
          <p:nvPr/>
        </p:nvSpPr>
        <p:spPr>
          <a:xfrm>
            <a:off x="16198596" y="13395960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79.3%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" name="Shape 248"/>
          <p:cNvSpPr/>
          <p:nvPr/>
        </p:nvSpPr>
        <p:spPr>
          <a:xfrm>
            <a:off x="17830800" y="13395960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Text 249"/>
          <p:cNvSpPr/>
          <p:nvPr/>
        </p:nvSpPr>
        <p:spPr>
          <a:xfrm>
            <a:off x="17830800" y="13395960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82.1%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Shape 250"/>
          <p:cNvSpPr/>
          <p:nvPr/>
        </p:nvSpPr>
        <p:spPr>
          <a:xfrm>
            <a:off x="19463004" y="13395960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" name="Text 251"/>
          <p:cNvSpPr/>
          <p:nvPr/>
        </p:nvSpPr>
        <p:spPr>
          <a:xfrm>
            <a:off x="19463004" y="13395960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80.7%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Shape 252"/>
          <p:cNvSpPr/>
          <p:nvPr/>
        </p:nvSpPr>
        <p:spPr>
          <a:xfrm>
            <a:off x="14566392" y="13743432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5" name="Text 253"/>
          <p:cNvSpPr/>
          <p:nvPr/>
        </p:nvSpPr>
        <p:spPr>
          <a:xfrm>
            <a:off x="14566392" y="13743432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" name="Shape 254"/>
          <p:cNvSpPr/>
          <p:nvPr/>
        </p:nvSpPr>
        <p:spPr>
          <a:xfrm>
            <a:off x="16198596" y="13743432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Text 255"/>
          <p:cNvSpPr/>
          <p:nvPr/>
        </p:nvSpPr>
        <p:spPr>
          <a:xfrm>
            <a:off x="16198596" y="13743432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85.2%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Shape 256"/>
          <p:cNvSpPr/>
          <p:nvPr/>
        </p:nvSpPr>
        <p:spPr>
          <a:xfrm>
            <a:off x="17830800" y="13743432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" name="Text 257"/>
          <p:cNvSpPr/>
          <p:nvPr/>
        </p:nvSpPr>
        <p:spPr>
          <a:xfrm>
            <a:off x="17830800" y="13743432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87.9%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Shape 258"/>
          <p:cNvSpPr/>
          <p:nvPr/>
        </p:nvSpPr>
        <p:spPr>
          <a:xfrm>
            <a:off x="19463004" y="13743432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1" name="Text 259"/>
          <p:cNvSpPr/>
          <p:nvPr/>
        </p:nvSpPr>
        <p:spPr>
          <a:xfrm>
            <a:off x="19463004" y="13743432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86.5%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" name="Shape 260"/>
          <p:cNvSpPr/>
          <p:nvPr/>
        </p:nvSpPr>
        <p:spPr>
          <a:xfrm>
            <a:off x="14566392" y="14090904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" name="Text 261"/>
          <p:cNvSpPr/>
          <p:nvPr/>
        </p:nvSpPr>
        <p:spPr>
          <a:xfrm>
            <a:off x="14566392" y="14090904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Truck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" name="Shape 262"/>
          <p:cNvSpPr/>
          <p:nvPr/>
        </p:nvSpPr>
        <p:spPr>
          <a:xfrm>
            <a:off x="16198596" y="14090904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Text 263"/>
          <p:cNvSpPr/>
          <p:nvPr/>
        </p:nvSpPr>
        <p:spPr>
          <a:xfrm>
            <a:off x="16198596" y="14090904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88.5%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Shape 264"/>
          <p:cNvSpPr/>
          <p:nvPr/>
        </p:nvSpPr>
        <p:spPr>
          <a:xfrm>
            <a:off x="17830800" y="14090904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7" name="Text 265"/>
          <p:cNvSpPr/>
          <p:nvPr/>
        </p:nvSpPr>
        <p:spPr>
          <a:xfrm>
            <a:off x="17830800" y="14090904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91.7%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Shape 266"/>
          <p:cNvSpPr/>
          <p:nvPr/>
        </p:nvSpPr>
        <p:spPr>
          <a:xfrm>
            <a:off x="19463004" y="14090904"/>
            <a:ext cx="1632204" cy="347472"/>
          </a:xfrm>
          <a:prstGeom prst="rect">
            <a:avLst/>
          </a:prstGeom>
          <a:solidFill>
            <a:srgbClr val="E8EDF8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9" name="Text 267"/>
          <p:cNvSpPr/>
          <p:nvPr/>
        </p:nvSpPr>
        <p:spPr>
          <a:xfrm>
            <a:off x="19463004" y="14090904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90.1%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Shape 268"/>
          <p:cNvSpPr/>
          <p:nvPr/>
        </p:nvSpPr>
        <p:spPr>
          <a:xfrm>
            <a:off x="14566392" y="14438376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Text 269"/>
          <p:cNvSpPr/>
          <p:nvPr/>
        </p:nvSpPr>
        <p:spPr>
          <a:xfrm>
            <a:off x="14566392" y="1443837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Bicycle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Shape 270"/>
          <p:cNvSpPr/>
          <p:nvPr/>
        </p:nvSpPr>
        <p:spPr>
          <a:xfrm>
            <a:off x="16198596" y="14438376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3" name="Text 271"/>
          <p:cNvSpPr/>
          <p:nvPr/>
        </p:nvSpPr>
        <p:spPr>
          <a:xfrm>
            <a:off x="16198596" y="1443837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75.6%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Shape 272"/>
          <p:cNvSpPr/>
          <p:nvPr/>
        </p:nvSpPr>
        <p:spPr>
          <a:xfrm>
            <a:off x="17830800" y="14438376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17830800" y="1443837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78.4%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Shape 274"/>
          <p:cNvSpPr/>
          <p:nvPr/>
        </p:nvSpPr>
        <p:spPr>
          <a:xfrm>
            <a:off x="19463004" y="14438376"/>
            <a:ext cx="1632204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Text 275"/>
          <p:cNvSpPr/>
          <p:nvPr/>
        </p:nvSpPr>
        <p:spPr>
          <a:xfrm>
            <a:off x="19463004" y="14438376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77.0%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Shape 276"/>
          <p:cNvSpPr/>
          <p:nvPr/>
        </p:nvSpPr>
        <p:spPr>
          <a:xfrm>
            <a:off x="14566392" y="14785848"/>
            <a:ext cx="1632204" cy="347472"/>
          </a:xfrm>
          <a:prstGeom prst="rect">
            <a:avLst/>
          </a:prstGeom>
          <a:solidFill>
            <a:srgbClr val="0079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Text 277"/>
          <p:cNvSpPr/>
          <p:nvPr/>
        </p:nvSpPr>
        <p:spPr>
          <a:xfrm>
            <a:off x="14566392" y="1478584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Tổng TB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0" name="Shape 278"/>
          <p:cNvSpPr/>
          <p:nvPr/>
        </p:nvSpPr>
        <p:spPr>
          <a:xfrm>
            <a:off x="16198596" y="14785848"/>
            <a:ext cx="1632204" cy="347472"/>
          </a:xfrm>
          <a:prstGeom prst="rect">
            <a:avLst/>
          </a:prstGeom>
          <a:solidFill>
            <a:srgbClr val="0079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Text 279"/>
          <p:cNvSpPr/>
          <p:nvPr/>
        </p:nvSpPr>
        <p:spPr>
          <a:xfrm>
            <a:off x="16198596" y="1478584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84.1%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Shape 280"/>
          <p:cNvSpPr/>
          <p:nvPr/>
        </p:nvSpPr>
        <p:spPr>
          <a:xfrm>
            <a:off x="17830800" y="14785848"/>
            <a:ext cx="1632204" cy="347472"/>
          </a:xfrm>
          <a:prstGeom prst="rect">
            <a:avLst/>
          </a:prstGeom>
          <a:solidFill>
            <a:srgbClr val="0079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3" name="Text 281"/>
          <p:cNvSpPr/>
          <p:nvPr/>
        </p:nvSpPr>
        <p:spPr>
          <a:xfrm>
            <a:off x="17830800" y="1478584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86.9%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4" name="Shape 282"/>
          <p:cNvSpPr/>
          <p:nvPr/>
        </p:nvSpPr>
        <p:spPr>
          <a:xfrm>
            <a:off x="19463004" y="14785848"/>
            <a:ext cx="1632204" cy="347472"/>
          </a:xfrm>
          <a:prstGeom prst="rect">
            <a:avLst/>
          </a:prstGeom>
          <a:solidFill>
            <a:srgbClr val="00796B"/>
          </a:solidFill>
          <a:ln w="6350">
            <a:solidFill>
              <a:srgbClr val="C8D3E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5" name="Text 283"/>
          <p:cNvSpPr/>
          <p:nvPr/>
        </p:nvSpPr>
        <p:spPr>
          <a:xfrm>
            <a:off x="19463004" y="14785848"/>
            <a:ext cx="16322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85.5%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Shape 284"/>
          <p:cNvSpPr/>
          <p:nvPr/>
        </p:nvSpPr>
        <p:spPr>
          <a:xfrm>
            <a:off x="14566392" y="15270480"/>
            <a:ext cx="1586484" cy="12344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Text 285"/>
          <p:cNvSpPr/>
          <p:nvPr/>
        </p:nvSpPr>
        <p:spPr>
          <a:xfrm>
            <a:off x="14566392" y="15343632"/>
            <a:ext cx="15864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25 FPS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8" name="Text 286"/>
          <p:cNvSpPr/>
          <p:nvPr/>
        </p:nvSpPr>
        <p:spPr>
          <a:xfrm>
            <a:off x="14566392" y="15983712"/>
            <a:ext cx="158648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Tốc độ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xử lý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9" name="Shape 287"/>
          <p:cNvSpPr/>
          <p:nvPr/>
        </p:nvSpPr>
        <p:spPr>
          <a:xfrm>
            <a:off x="16207740" y="15270480"/>
            <a:ext cx="1586484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" name="Text 288"/>
          <p:cNvSpPr/>
          <p:nvPr/>
        </p:nvSpPr>
        <p:spPr>
          <a:xfrm>
            <a:off x="16207740" y="15343632"/>
            <a:ext cx="15864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84.1%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1" name="Text 289"/>
          <p:cNvSpPr/>
          <p:nvPr/>
        </p:nvSpPr>
        <p:spPr>
          <a:xfrm>
            <a:off x="16207740" y="15983712"/>
            <a:ext cx="158648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mAP50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tổng TB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" name="Shape 290"/>
          <p:cNvSpPr/>
          <p:nvPr/>
        </p:nvSpPr>
        <p:spPr>
          <a:xfrm>
            <a:off x="17849088" y="15270480"/>
            <a:ext cx="1586484" cy="12344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3" name="Text 291"/>
          <p:cNvSpPr/>
          <p:nvPr/>
        </p:nvSpPr>
        <p:spPr>
          <a:xfrm>
            <a:off x="17849088" y="15343632"/>
            <a:ext cx="15864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20s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Text 292"/>
          <p:cNvSpPr/>
          <p:nvPr/>
        </p:nvSpPr>
        <p:spPr>
          <a:xfrm>
            <a:off x="17849088" y="15983712"/>
            <a:ext cx="158648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snapshot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" name="Shape 293"/>
          <p:cNvSpPr/>
          <p:nvPr/>
        </p:nvSpPr>
        <p:spPr>
          <a:xfrm>
            <a:off x="19490436" y="15270480"/>
            <a:ext cx="1586484" cy="1234440"/>
          </a:xfrm>
          <a:prstGeom prst="rect">
            <a:avLst/>
          </a:prstGeom>
          <a:solidFill>
            <a:srgbClr val="D84315"/>
          </a:solidFill>
          <a:ln w="12700">
            <a:solidFill>
              <a:srgbClr val="D84315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" name="Text 294"/>
          <p:cNvSpPr/>
          <p:nvPr/>
        </p:nvSpPr>
        <p:spPr>
          <a:xfrm>
            <a:off x="19490436" y="15343632"/>
            <a:ext cx="15864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13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" name="Text 295"/>
          <p:cNvSpPr/>
          <p:nvPr/>
        </p:nvSpPr>
        <p:spPr>
          <a:xfrm>
            <a:off x="19490436" y="15983712"/>
            <a:ext cx="1586484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API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endpoints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" name="Shape 296"/>
          <p:cNvSpPr/>
          <p:nvPr/>
        </p:nvSpPr>
        <p:spPr>
          <a:xfrm>
            <a:off x="14401800" y="22585680"/>
            <a:ext cx="6858000" cy="713232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3EA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9" name="Shape 297"/>
          <p:cNvSpPr/>
          <p:nvPr/>
        </p:nvSpPr>
        <p:spPr>
          <a:xfrm>
            <a:off x="14401800" y="22585680"/>
            <a:ext cx="6858000" cy="53035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0" name="Text 298"/>
          <p:cNvSpPr/>
          <p:nvPr/>
        </p:nvSpPr>
        <p:spPr>
          <a:xfrm>
            <a:off x="14401800" y="22585680"/>
            <a:ext cx="6858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Công nghệ sử dụng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1" name="Text 299"/>
          <p:cNvSpPr/>
          <p:nvPr/>
        </p:nvSpPr>
        <p:spPr>
          <a:xfrm>
            <a:off x="14566392" y="233080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2" name="Text 300"/>
          <p:cNvSpPr/>
          <p:nvPr/>
        </p:nvSpPr>
        <p:spPr>
          <a:xfrm>
            <a:off x="15151608" y="23253192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YOLOv8 (Ultralytics)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3" name="Text 301"/>
          <p:cNvSpPr/>
          <p:nvPr/>
        </p:nvSpPr>
        <p:spPr>
          <a:xfrm>
            <a:off x="15151608" y="23564088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Object detection &amp; tracking. Model: yolov8n.pt (6.3MB). Classes: car, motorcycle, bus, truck, bicycle.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4" name="Text 302"/>
          <p:cNvSpPr/>
          <p:nvPr/>
        </p:nvSpPr>
        <p:spPr>
          <a:xfrm>
            <a:off x="14566392" y="243138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🔄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5" name="Text 303"/>
          <p:cNvSpPr/>
          <p:nvPr/>
        </p:nvSpPr>
        <p:spPr>
          <a:xfrm>
            <a:off x="15151608" y="24259032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ByteTrack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6" name="Text 304"/>
          <p:cNvSpPr/>
          <p:nvPr/>
        </p:nvSpPr>
        <p:spPr>
          <a:xfrm>
            <a:off x="15151608" y="24569928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Multi-object tracking tích hợp YOLO. Duy trì Track ID liên tục, tránh mất track khi xe bị che khuất.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" name="Text 305"/>
          <p:cNvSpPr/>
          <p:nvPr/>
        </p:nvSpPr>
        <p:spPr>
          <a:xfrm>
            <a:off x="14566392" y="25319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8" name="Text 306"/>
          <p:cNvSpPr/>
          <p:nvPr/>
        </p:nvSpPr>
        <p:spPr>
          <a:xfrm>
            <a:off x="15151608" y="25264872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Ethereum + Solidity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Text 307"/>
          <p:cNvSpPr/>
          <p:nvPr/>
        </p:nvSpPr>
        <p:spPr>
          <a:xfrm>
            <a:off x="15151608" y="25575768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contract TrafficViolationRegistry.sol. Hỗ trợ Sepolia testnet &amp; Polygon. MetaMask integration.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Text 308"/>
          <p:cNvSpPr/>
          <p:nvPr/>
        </p:nvSpPr>
        <p:spPr>
          <a:xfrm>
            <a:off x="14566392" y="26325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🐍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Text 309"/>
          <p:cNvSpPr/>
          <p:nvPr/>
        </p:nvSpPr>
        <p:spPr>
          <a:xfrm>
            <a:off x="15151608" y="26270712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Flask + Python 3.8+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Text 310"/>
          <p:cNvSpPr/>
          <p:nvPr/>
        </p:nvSpPr>
        <p:spPr>
          <a:xfrm>
            <a:off x="15151608" y="26581608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 web server. Job queue xử lý video. 13 REST API endpoints. SQLite database qua SQLAlchemy.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Text 311"/>
          <p:cNvSpPr/>
          <p:nvPr/>
        </p:nvSpPr>
        <p:spPr>
          <a:xfrm>
            <a:off x="14566392" y="27331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🌐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Text 312"/>
          <p:cNvSpPr/>
          <p:nvPr/>
        </p:nvSpPr>
        <p:spPr>
          <a:xfrm>
            <a:off x="15151608" y="27276552"/>
            <a:ext cx="5897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6B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Web3.py + MetaMask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Text 313"/>
          <p:cNvSpPr/>
          <p:nvPr/>
        </p:nvSpPr>
        <p:spPr>
          <a:xfrm>
            <a:off x="15151608" y="27587448"/>
            <a:ext cx="5897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BlockchainManager kết nối RPC. Ghi violation hash tự động. Backup local khi offline, sync khi online.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Shape 314"/>
          <p:cNvSpPr/>
          <p:nvPr/>
        </p:nvSpPr>
        <p:spPr>
          <a:xfrm>
            <a:off x="0" y="30083760"/>
            <a:ext cx="21945600" cy="91440"/>
          </a:xfrm>
          <a:prstGeom prst="rect">
            <a:avLst/>
          </a:prstGeom>
          <a:solidFill>
            <a:srgbClr val="E5A900"/>
          </a:solidFill>
          <a:ln w="12700">
            <a:solidFill>
              <a:srgbClr val="E5A900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Shape 315"/>
          <p:cNvSpPr/>
          <p:nvPr/>
        </p:nvSpPr>
        <p:spPr>
          <a:xfrm>
            <a:off x="0" y="30175200"/>
            <a:ext cx="21945600" cy="795528"/>
          </a:xfrm>
          <a:prstGeom prst="rect">
            <a:avLst/>
          </a:prstGeom>
          <a:solidFill>
            <a:srgbClr val="1A2B6B"/>
          </a:solidFill>
          <a:ln w="12700">
            <a:solidFill>
              <a:srgbClr val="1A2B6B"/>
            </a:solidFill>
            <a:prstDash val="solid"/>
          </a:ln>
        </p:spPr>
        <p:txBody>
          <a:bodyPr/>
          <a:lstStyle/>
          <a:p>
            <a:endParaRPr lang="LID409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8" name="Text 316"/>
          <p:cNvSpPr/>
          <p:nvPr/>
        </p:nvSpPr>
        <p:spPr>
          <a:xfrm>
            <a:off x="0" y="30175200"/>
            <a:ext cx="21945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Github: github.com/</a:t>
            </a:r>
            <a:r>
              <a:rPr lang="vi-VN" sz="1200" dirty="0" err="1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nguyntuan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</a:t>
            </a:r>
            <a:r>
              <a:rPr lang="vi-VN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Nguyễn Anh Tuấn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– CNTT 16-</a:t>
            </a:r>
            <a:r>
              <a:rPr lang="vi-VN" sz="1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Shape 118">
            <a:extLst>
              <a:ext uri="{FF2B5EF4-FFF2-40B4-BE49-F238E27FC236}">
                <a16:creationId xmlns:a16="http://schemas.microsoft.com/office/drawing/2014/main" id="{15077FF4-8B13-1FE5-092D-DD425A2B1F4C}"/>
              </a:ext>
            </a:extLst>
          </p:cNvPr>
          <p:cNvSpPr/>
          <p:nvPr/>
        </p:nvSpPr>
        <p:spPr>
          <a:xfrm>
            <a:off x="14398752" y="17218152"/>
            <a:ext cx="6858000" cy="53035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algn="ctr"/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6" name="Hình ảnh 325">
            <a:extLst>
              <a:ext uri="{FF2B5EF4-FFF2-40B4-BE49-F238E27FC236}">
                <a16:creationId xmlns:a16="http://schemas.microsoft.com/office/drawing/2014/main" id="{BD49CF0B-8B48-AA60-5275-633C80FB4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8576" y="18031968"/>
            <a:ext cx="3621024" cy="36210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1210</Words>
  <Application>Microsoft Office PowerPoint</Application>
  <PresentationFormat>Tùy chỉnh</PresentationFormat>
  <Paragraphs>211</Paragraphs>
  <Slides>1</Slides>
  <Notes>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Bản trình bày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nguyntuan28@gmail.com</cp:lastModifiedBy>
  <cp:revision>2</cp:revision>
  <dcterms:created xsi:type="dcterms:W3CDTF">2026-06-04T07:32:06Z</dcterms:created>
  <dcterms:modified xsi:type="dcterms:W3CDTF">2026-06-04T08:20:14Z</dcterms:modified>
</cp:coreProperties>
</file>